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5029200" cy="5029200"/>
          </a:xfrm>
          <a:prstGeom prst="ellipse">
            <a:avLst/>
          </a:prstGeom>
          <a:solidFill>
            <a:srgbClr val="6C63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C63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Sales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28600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Quiqup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FOR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Revenue Per BDM.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we generated 950K AED per BDM from new acquisitions. In 2026 the target is 1.4M AED per BDM — a 35% company growth rate. That means 244 new clients, 20 activations per month, and ~60 outbound first meetings. Inbound alone won't get us there.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514600" cy="1554480"/>
          </a:xfrm>
          <a:prstGeom prst="rect">
            <a:avLst/>
          </a:prstGeom>
          <a:solidFill>
            <a:srgbClr val="1A104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200400"/>
            <a:ext cx="2514600" cy="45720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activate in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200400"/>
            <a:ext cx="2514600" cy="1554480"/>
          </a:xfrm>
          <a:prstGeom prst="rect">
            <a:avLst/>
          </a:prstGeom>
          <a:solidFill>
            <a:srgbClr val="1A104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3200400"/>
            <a:ext cx="25146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needed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2514600" cy="1554480"/>
          </a:xfrm>
          <a:prstGeom prst="rect">
            <a:avLst/>
          </a:prstGeom>
          <a:solidFill>
            <a:srgbClr val="1A104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200400"/>
            <a:ext cx="2514600" cy="457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first meetings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C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Calls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BDM / Week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4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number that drives everything downstream.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4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Salesforce. Tracked weekly. Non-negotiable.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10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#1 METRIC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OUTBOUND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stages from lead to opportunity — and you own the funnel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25780" y="1143000"/>
            <a:ext cx="1234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143000"/>
            <a:ext cx="45720" cy="1920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" y="12527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2940" y="16002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Leads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" y="21488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enrichment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research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networking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78508" y="18745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7380" y="1143000"/>
            <a:ext cx="1234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97380" y="1143000"/>
            <a:ext cx="45720" cy="1920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2034540" y="12527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4540" y="16002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Contacts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34540" y="21488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auto-enrichment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search manually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LinkedIn / web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0108" y="18745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68980" y="1143000"/>
            <a:ext cx="1234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8980" y="1143000"/>
            <a:ext cx="45720" cy="1920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06140" y="12527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06140" y="16002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Outreach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6140" y="21488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Lemlist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sequences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tailor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1708" y="18745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0580" y="1143000"/>
            <a:ext cx="1234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0580" y="1143000"/>
            <a:ext cx="45720" cy="1920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77740" y="12527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77740" y="16002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7740" y="21488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 prospects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reach out with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&amp; personal touch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3308" y="18745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12180" y="1143000"/>
            <a:ext cx="1234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12180" y="1143000"/>
            <a:ext cx="45720" cy="1920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6149340" y="12527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49340" y="16002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Replies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9340" y="21488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responses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channels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reply fast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64908" y="18745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83780" y="1143000"/>
            <a:ext cx="1234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83780" y="1143000"/>
            <a:ext cx="45720" cy="1920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Text 35"/>
          <p:cNvSpPr/>
          <p:nvPr/>
        </p:nvSpPr>
        <p:spPr>
          <a:xfrm>
            <a:off x="7520940" y="12527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20940" y="16002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Opps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20940" y="21488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meetings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opportunities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lead qualifies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solidFill>
            <a:srgbClr val="1A104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14400" y="3520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automates and supports — but the final responsibility for filling the funnel is yours. </a:t>
            </a:r>
            <a:pPr indent="0" marL="0">
              <a:buNone/>
            </a:pPr>
            <a:r>
              <a:rPr lang="en-US" sz="13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your pipeline.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at each stage: leads in pipeline  |  touches logged  |  contacts found  |  calls completed  |  replies &lt; 24h  |  opportunities created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is your source of company and contact information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246888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insert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website URL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Workbook &gt;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20116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3FF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88720"/>
            <a:ext cx="2468880" cy="45720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enriches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LinkedIn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followers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presence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0116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3FF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188720"/>
            <a:ext cx="2468880" cy="457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finds contacts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CEOs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Operations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Logistics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E-commerce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Supply Chain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 more roles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pushes ~300 leads/week automatically, but you can also feed your own leads into Clay at any time.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solidFill>
            <a:srgbClr val="1A104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leads: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company or website to Clay Workbook &gt; Clients Table — it will enrich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QUALIFICATION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decide if a lead moves forward — and a score tells you how big the opportunity 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246888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UAE business?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46888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1887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Quiqup deliver the product?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46888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887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traction? (score ≥ 25)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 = WEBSITE TRAFFIC + INSTAGRAM FOLLOWERS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603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Orders /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— 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— 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—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solidFill>
            <a:srgbClr val="1A104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disqualified leads — some may be flagged incorrectly. You might find opportunities there.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SALESFORCE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 land in Salesforce — here's how to find and work them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54864" cy="14173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Disqualified Leads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main working list. Start here every week. These are the leads ready for outreach.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14173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Clay Leads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pushed by Clay. The complete universe — browse for additional opportunities.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788920"/>
            <a:ext cx="54864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Without Contact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337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phone/email/LinkedIn. Your job: find a contact or disqualify. Don't leave these hanging.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88920"/>
            <a:ext cx="54864" cy="1417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Disqualified Leads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337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Clay's logic. Review these — some may be incorrectly disqualified and worth pursuing.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contact type:  Phone = call first  |  Email = sequence first  |  LinkedIn = LinkedIn touch  |  No contact = enrich or disqualify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SLAs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Lemlist logs communication automatically — meetings and calls you log yourself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3749040" cy="457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AUTOMATICALLY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Lemlist handles these: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 touches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opens &amp; clicks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detection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374904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MANUALLY IN SALESFORCE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interaction, no exceptions: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(booked &amp; completed)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interactions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solidFill>
            <a:srgbClr val="1A104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within 24 hours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Create opportunity in Salesforce when lead qualifies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IN SALESFORCE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Clay enriches a lead, this is what lands in your Salesforce view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069848"/>
            <a:ext cx="237744" cy="237744"/>
          </a:xfrm>
          <a:prstGeom prst="ellipse">
            <a:avLst/>
          </a:prstGeom>
          <a:solidFill>
            <a:srgbClr val="0070D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42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Saiid Kobeisy Fashion House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292608" cy="29260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4447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Saiid Kobeisy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177393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1901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saiid@saiidkobeisy.com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4447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0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1773936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URL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51960" y="1792224"/>
            <a:ext cx="292608" cy="29260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Classification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22311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(5–15 orders)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2404872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487168"/>
            <a:ext cx="292608" cy="29260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4688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Deliveries per day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2606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24688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Offering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2852928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944368"/>
            <a:ext cx="292608" cy="29260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292608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Score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326440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BDM Score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29260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Currency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– UAE Dirham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1520" y="347472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566160"/>
            <a:ext cx="292608" cy="29260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" y="3547872"/>
            <a:ext cx="7680960" cy="23774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3566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Status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38221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Status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" y="3950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63440" y="38221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Lead Lost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63440" y="402336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Disqualification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31520" y="4206240"/>
            <a:ext cx="7680960" cy="21945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215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/ Message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" y="446227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7240" y="4590288"/>
            <a:ext cx="365760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46085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Beirut in 2000, SAIID KOBEISY is a global luxury fashion house... Website traffic: 71. Social followers: 899,500. Lead score: 30. Qualification: Qualified.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SALESFORCE TO LEMLIST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Salesforce to Lemlist: how to push a lead into an outreach sequence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18745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lead in Salesforce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qualified lead from your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Disqualified" view with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available.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42032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188720"/>
            <a:ext cx="18745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4640" y="1371600"/>
            <a:ext cx="411480" cy="4114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sequence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Lemlist sequence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matches the lead's profile,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vertical, and size.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18745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1371600"/>
            <a:ext cx="411480" cy="4114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Lemlist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lead to the selected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sequence. Lemlist starts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outreach.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56832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11887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188720"/>
            <a:ext cx="18745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0" y="1371600"/>
            <a:ext cx="411480" cy="4114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4944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iterate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opens, clicks, and replies.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works with Growth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refine sequences.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solidFill>
            <a:srgbClr val="1A104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Lemlist communication is logged automatically in Salesforce. You focus on selling, the system tracks the touches.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LEMLIST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sequences run alongside your manual outreach — and you can tailor them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374904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MANUAL OUTREACH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high-priority leads directly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personalised emails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messages &amp; connection requests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for warm leads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approaches — share what works with Growth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749040" cy="45720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LEMLIST SEQUENCE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email sequences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follow-ups based on engagement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of subject lines &amp; copy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logging to Salesforce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builds &amp; refines based on your 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1A104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try approaches manually → share what works → Growth builds it into Lemlist → sequences improve → repeat.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LINKEDIN SHORTCUT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push leads from LinkedIn directly into Lemlist — and a Salesforce lead is created automatically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286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286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prospect 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 Use the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Lemlist extension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 them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3FF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1371600"/>
            <a:ext cx="2286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371600"/>
            <a:ext cx="2286000" cy="54864"/>
          </a:xfrm>
          <a:prstGeom prst="rect">
            <a:avLst/>
          </a:prstGeom>
          <a:solidFill>
            <a:srgbClr val="00D09C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Lemlist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2057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enters the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outreach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sequence. Emails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flowing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3FF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2286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371600"/>
            <a:ext cx="2286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2057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record is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automatically.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activity syncs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back. Nothing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through.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solidFill>
            <a:srgbClr val="1A104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entry.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on LinkedIn creates the lead in Lemlist AND Salesforce simultaneously.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we review your outbound performance together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54864" cy="27432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team prepares the dashboards. Here's what we track: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874520"/>
          <a:ext cx="71323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Tracked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calls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per BDM /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activity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response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24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logged activities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meetings held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weekly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opportunities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blockers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3 bullets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BDM input at weekly meeting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MONTHLY FUNNEL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BDM needs to deliver every month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6217920" cy="502920"/>
          </a:xfrm>
          <a:prstGeom prst="rect">
            <a:avLst>
              <a:gd name="adj" fmla="val 10909"/>
            </a:avLst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09728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Reach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81882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99616" y="1655064"/>
            <a:ext cx="5413248" cy="502920"/>
          </a:xfrm>
          <a:prstGeom prst="rect">
            <a:avLst>
              <a:gd name="adj" fmla="val 10909"/>
            </a:avLst>
          </a:prstGeom>
          <a:solidFill>
            <a:srgbClr val="7C73FF"/>
          </a:solidFill>
          <a:ln/>
        </p:spPr>
      </p:sp>
      <p:sp>
        <p:nvSpPr>
          <p:cNvPr id="9" name="Text 7"/>
          <p:cNvSpPr/>
          <p:nvPr/>
        </p:nvSpPr>
        <p:spPr>
          <a:xfrm>
            <a:off x="1728216" y="1655064"/>
            <a:ext cx="24359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97975" y="1655064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050024" y="16550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01952" y="2212848"/>
            <a:ext cx="4608576" cy="502920"/>
          </a:xfrm>
          <a:prstGeom prst="rect">
            <a:avLst>
              <a:gd name="adj" fmla="val 10909"/>
            </a:avLst>
          </a:prstGeom>
          <a:solidFill>
            <a:srgbClr val="00E5D0"/>
          </a:solidFill>
          <a:ln/>
        </p:spPr>
      </p:sp>
      <p:sp>
        <p:nvSpPr>
          <p:cNvPr id="13" name="Text 11"/>
          <p:cNvSpPr/>
          <p:nvPr/>
        </p:nvSpPr>
        <p:spPr>
          <a:xfrm>
            <a:off x="2130552" y="2212848"/>
            <a:ext cx="20738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068" y="221284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47688" y="2212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04288" y="2770632"/>
            <a:ext cx="3803904" cy="502920"/>
          </a:xfrm>
          <a:prstGeom prst="rect">
            <a:avLst>
              <a:gd name="adj" fmla="val 10909"/>
            </a:avLst>
          </a:prstGeom>
          <a:solidFill>
            <a:srgbClr val="00D09C"/>
          </a:solidFill>
          <a:ln/>
        </p:spPr>
      </p:sp>
      <p:sp>
        <p:nvSpPr>
          <p:cNvPr id="17" name="Text 15"/>
          <p:cNvSpPr/>
          <p:nvPr/>
        </p:nvSpPr>
        <p:spPr>
          <a:xfrm>
            <a:off x="2532888" y="2770632"/>
            <a:ext cx="17117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30162" y="27706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45352" y="27706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06624" y="3328416"/>
            <a:ext cx="2999232" cy="502920"/>
          </a:xfrm>
          <a:prstGeom prst="rect">
            <a:avLst>
              <a:gd name="adj" fmla="val 10909"/>
            </a:avLst>
          </a:prstGeom>
          <a:solidFill>
            <a:srgbClr val="00D09C"/>
          </a:solidFill>
          <a:ln/>
        </p:spPr>
      </p:sp>
      <p:sp>
        <p:nvSpPr>
          <p:cNvPr id="21" name="Text 19"/>
          <p:cNvSpPr/>
          <p:nvPr/>
        </p:nvSpPr>
        <p:spPr>
          <a:xfrm>
            <a:off x="2935224" y="3328416"/>
            <a:ext cx="134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Clients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46255" y="3328416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843016" y="332841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3886200"/>
            <a:ext cx="2194560" cy="502920"/>
          </a:xfrm>
          <a:prstGeom prst="rect">
            <a:avLst>
              <a:gd name="adj" fmla="val 10909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8862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Clients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62349" y="3886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4068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 BDMs. Monthly company targets: 1,292 leads → 168 interested → 67 calls → 20 opps → 8 signed → 6 activated.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6C63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this week.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468880" cy="2103120"/>
          </a:xfrm>
          <a:prstGeom prst="rect">
            <a:avLst/>
          </a:prstGeom>
          <a:solidFill>
            <a:srgbClr val="1A104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2468880" cy="45720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insert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company you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target. Insert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name or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into Clay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&gt; Clients 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468880" cy="2103120"/>
          </a:xfrm>
          <a:prstGeom prst="rect">
            <a:avLst/>
          </a:prstGeom>
          <a:solidFill>
            <a:srgbClr val="1A104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737360"/>
            <a:ext cx="2468880" cy="45720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enriched data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contacts that Clay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found. Review the lead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classification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Salesforce views.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468880" cy="2103120"/>
          </a:xfrm>
          <a:prstGeom prst="rect">
            <a:avLst/>
          </a:prstGeom>
          <a:solidFill>
            <a:srgbClr val="1A104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737360"/>
            <a:ext cx="2468880" cy="45720"/>
          </a:xfrm>
          <a:prstGeom prst="rect">
            <a:avLst/>
          </a:prstGeom>
          <a:solidFill>
            <a:srgbClr val="00E5D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qualified lead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Lemlist outreach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sequence. Or push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LinkedIn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extension.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Quiqup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Outbound Sales Process — Term 1 2026</dc:title>
  <dc:subject>PptxGenJS Presentation</dc:subject>
  <dc:creator>Quiqup Growth Team</dc:creator>
  <cp:lastModifiedBy>Quiqup Growth Team</cp:lastModifiedBy>
  <cp:revision>1</cp:revision>
  <dcterms:created xsi:type="dcterms:W3CDTF">2026-02-06T11:31:46Z</dcterms:created>
  <dcterms:modified xsi:type="dcterms:W3CDTF">2026-02-06T11:31:46Z</dcterms:modified>
</cp:coreProperties>
</file>